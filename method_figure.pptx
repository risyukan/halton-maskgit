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19456"/>
            <a:ext cx="118872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456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700" b="1" i="0">
                <a:solidFill>
                  <a:srgbClr val="1F2940"/>
                </a:solidFill>
                <a:latin typeface="Segoe UI"/>
              </a:rPr>
              <a:t>Partial-Update Decoding: recompute only Uₜ ∪ Uₜ₋₁, reuse cached deltas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77240"/>
            <a:ext cx="11274552" cy="3200400"/>
          </a:xfrm>
          <a:prstGeom prst="roundRect">
            <a:avLst>
              <a:gd name="adj" fmla="val 14000"/>
            </a:avLst>
          </a:prstGeom>
          <a:noFill/>
          <a:ln w="1905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795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Transformer Block  (expanded — AdaLN-Zero / DiT-style)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24128"/>
            <a:ext cx="10881360" cy="402336"/>
          </a:xfrm>
          <a:prstGeom prst="roundRect">
            <a:avLst>
              <a:gd name="adj" fmla="val 14000"/>
            </a:avLst>
          </a:prstGeom>
          <a:solidFill>
            <a:srgbClr val="FBF1DB"/>
          </a:solidFill>
          <a:ln w="12700">
            <a:solidFill>
              <a:srgbClr val="C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8A6D18"/>
                </a:solidFill>
                <a:latin typeface="Segoe UI"/>
              </a:rPr>
              <a:t>AdaLN-Zero:   cond c  →  SiLU → Linear  →  (γ₁, β₁, α₁ | γ₂, β₂, α₂)      [ γ, β: modulate  ·  α: gate each sublayer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400" b="1" i="1">
                <a:solidFill>
                  <a:srgbClr val="2B2F36"/>
                </a:solidFill>
                <a:latin typeface="Segoe UI"/>
              </a:rPr>
              <a:t>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542032"/>
            <a:ext cx="228600" cy="0"/>
          </a:xfrm>
          <a:prstGeom prst="line">
            <a:avLst/>
          </a:prstGeom>
          <a:ln w="2032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86968" y="2194560"/>
            <a:ext cx="1078992" cy="713232"/>
          </a:xfrm>
          <a:prstGeom prst="roundRect">
            <a:avLst>
              <a:gd name="adj" fmla="val 14000"/>
            </a:avLst>
          </a:prstGeom>
          <a:solidFill>
            <a:srgbClr val="F2F3F5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950" b="0" i="0">
                <a:solidFill>
                  <a:srgbClr val="2B2F36"/>
                </a:solidFill>
                <a:latin typeface="Segoe UI"/>
              </a:rPr>
              <a:t>RMSNorm</a:t>
            </a:r>
          </a:p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950" b="0" i="0">
                <a:solidFill>
                  <a:srgbClr val="2B2F36"/>
                </a:solidFill>
                <a:latin typeface="Segoe UI"/>
              </a:rPr>
              <a:t>+ modulate</a:t>
            </a:r>
          </a:p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950" b="0" i="0">
                <a:solidFill>
                  <a:srgbClr val="2B2F36"/>
                </a:solidFill>
                <a:latin typeface="Segoe UI"/>
              </a:rPr>
              <a:t>(γ₁, β₁)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542032"/>
            <a:ext cx="155448" cy="0"/>
          </a:xfrm>
          <a:prstGeom prst="line">
            <a:avLst/>
          </a:prstGeom>
          <a:ln w="2032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21408" y="1627632"/>
            <a:ext cx="3063240" cy="1517904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5240">
            <a:solidFill>
              <a:srgbClr val="2E5C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6459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2E5C9A"/>
                </a:solidFill>
                <a:latin typeface="Segoe UI"/>
              </a:rPr>
              <a:t>Multi-Head Attention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57984" y="2157984"/>
            <a:ext cx="0" cy="731520"/>
          </a:xfrm>
          <a:prstGeom prst="line">
            <a:avLst/>
          </a:prstGeom>
          <a:ln w="1270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86000" y="2011680"/>
            <a:ext cx="548640" cy="292608"/>
          </a:xfrm>
          <a:prstGeom prst="roundRect">
            <a:avLst>
              <a:gd name="adj" fmla="val 14000"/>
            </a:avLst>
          </a:prstGeom>
          <a:solidFill>
            <a:srgbClr val="E8EFF7"/>
          </a:solidFill>
          <a:ln w="13970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1F2940"/>
                </a:solidFill>
                <a:latin typeface="Segoe UI"/>
              </a:rPr>
              <a:t>W_q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359152"/>
            <a:ext cx="548640" cy="292608"/>
          </a:xfrm>
          <a:prstGeom prst="roundRect">
            <a:avLst>
              <a:gd name="adj" fmla="val 14000"/>
            </a:avLst>
          </a:prstGeom>
          <a:solidFill>
            <a:srgbClr val="E8EFF7"/>
          </a:solidFill>
          <a:ln w="13970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1F2940"/>
                </a:solidFill>
                <a:latin typeface="Segoe UI"/>
              </a:rPr>
              <a:t>W_k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706624"/>
            <a:ext cx="548640" cy="292608"/>
          </a:xfrm>
          <a:prstGeom prst="roundRect">
            <a:avLst>
              <a:gd name="adj" fmla="val 14000"/>
            </a:avLst>
          </a:prstGeom>
          <a:solidFill>
            <a:srgbClr val="E8EFF7"/>
          </a:solidFill>
          <a:ln w="13970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1F2940"/>
                </a:solidFill>
                <a:latin typeface="Segoe UI"/>
              </a:rPr>
              <a:t>W_v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57984" y="2157984"/>
            <a:ext cx="128016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57984" y="2505456"/>
            <a:ext cx="128016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57984" y="2852928"/>
            <a:ext cx="128016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62656" y="2112264"/>
            <a:ext cx="603504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850" b="0" i="0">
                <a:solidFill>
                  <a:srgbClr val="2B2F36"/>
                </a:solidFill>
                <a:latin typeface="Segoe UI"/>
              </a:rPr>
              <a:t>QK-Norm</a:t>
            </a:r>
          </a:p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850" b="0" i="0">
                <a:solidFill>
                  <a:srgbClr val="2B2F36"/>
                </a:solidFill>
                <a:latin typeface="Segoe UI"/>
              </a:rPr>
              <a:t>(RMS)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34639" y="2157984"/>
            <a:ext cx="128017" cy="9144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834639" y="2395728"/>
            <a:ext cx="128017" cy="109728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94176" y="2139696"/>
            <a:ext cx="749808" cy="548640"/>
          </a:xfrm>
          <a:prstGeom prst="roundRect">
            <a:avLst>
              <a:gd name="adj" fmla="val 14000"/>
            </a:avLst>
          </a:prstGeom>
          <a:solidFill>
            <a:srgbClr val="F2F3F5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2B2F36"/>
                </a:solidFill>
                <a:latin typeface="Segoe UI"/>
              </a:rPr>
              <a:t>MHA</a:t>
            </a:r>
          </a:p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2B2F36"/>
                </a:solidFill>
                <a:latin typeface="Segoe UI"/>
              </a:rPr>
              <a:t>(SDPA)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2322576"/>
            <a:ext cx="128016" cy="36576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34639" y="2578608"/>
            <a:ext cx="859537" cy="27432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53712" y="2221992"/>
            <a:ext cx="475488" cy="3840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2B2F36"/>
                </a:solidFill>
                <a:latin typeface="Segoe UI"/>
              </a:rPr>
              <a:t>W_o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43983" y="2414016"/>
            <a:ext cx="109729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0" y="2414016"/>
            <a:ext cx="146304" cy="128016"/>
          </a:xfrm>
          <a:prstGeom prst="line">
            <a:avLst/>
          </a:prstGeom>
          <a:ln w="1778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0" y="186537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C0392B"/>
                </a:solidFill>
                <a:latin typeface="Segoe UI"/>
              </a:rPr>
              <a:t>× α₁</a:t>
            </a:r>
          </a:p>
        </p:txBody>
      </p:sp>
      <p:sp>
        <p:nvSpPr>
          <p:cNvPr id="30" name="Oval 29"/>
          <p:cNvSpPr/>
          <p:nvPr/>
        </p:nvSpPr>
        <p:spPr>
          <a:xfrm>
            <a:off x="5175504" y="237744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500" b="1" i="0">
                <a:solidFill>
                  <a:srgbClr val="2B2F36"/>
                </a:solidFill>
                <a:latin typeface="Segoe UI"/>
              </a:rPr>
              <a:t>+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04688" y="2542032"/>
            <a:ext cx="146304" cy="0"/>
          </a:xfrm>
          <a:prstGeom prst="line">
            <a:avLst/>
          </a:prstGeom>
          <a:ln w="2032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650992" y="2194560"/>
            <a:ext cx="1078992" cy="713232"/>
          </a:xfrm>
          <a:prstGeom prst="roundRect">
            <a:avLst>
              <a:gd name="adj" fmla="val 14000"/>
            </a:avLst>
          </a:prstGeom>
          <a:solidFill>
            <a:srgbClr val="F2F3F5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950" b="0" i="0">
                <a:solidFill>
                  <a:srgbClr val="2B2F36"/>
                </a:solidFill>
                <a:latin typeface="Segoe UI"/>
              </a:rPr>
              <a:t>RMSNorm</a:t>
            </a:r>
          </a:p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950" b="0" i="0">
                <a:solidFill>
                  <a:srgbClr val="2B2F36"/>
                </a:solidFill>
                <a:latin typeface="Segoe UI"/>
              </a:rPr>
              <a:t>+ modulate</a:t>
            </a:r>
          </a:p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950" b="0" i="0">
                <a:solidFill>
                  <a:srgbClr val="2B2F36"/>
                </a:solidFill>
                <a:latin typeface="Segoe UI"/>
              </a:rPr>
              <a:t>(γ₂, β₂)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29984" y="2542032"/>
            <a:ext cx="146304" cy="0"/>
          </a:xfrm>
          <a:prstGeom prst="line">
            <a:avLst/>
          </a:prstGeom>
          <a:ln w="2032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876288" y="1627632"/>
            <a:ext cx="3246120" cy="1517904"/>
          </a:xfrm>
          <a:prstGeom prst="roundRect">
            <a:avLst>
              <a:gd name="adj" fmla="val 14000"/>
            </a:avLst>
          </a:prstGeom>
          <a:solidFill>
            <a:srgbClr val="FBFEFC"/>
          </a:solidFill>
          <a:ln w="15240">
            <a:solidFill>
              <a:srgbClr val="2E7D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16459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2E7D46"/>
                </a:solidFill>
                <a:latin typeface="Segoe UI"/>
              </a:rPr>
              <a:t>SwiGLU Feed-Forward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12864" y="2194560"/>
            <a:ext cx="0" cy="658368"/>
          </a:xfrm>
          <a:prstGeom prst="line">
            <a:avLst/>
          </a:prstGeom>
          <a:ln w="1270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168896" y="2029968"/>
            <a:ext cx="566928" cy="310896"/>
          </a:xfrm>
          <a:prstGeom prst="roundRect">
            <a:avLst>
              <a:gd name="adj" fmla="val 14000"/>
            </a:avLst>
          </a:prstGeom>
          <a:solidFill>
            <a:srgbClr val="EAF3EC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2B2F36"/>
                </a:solidFill>
                <a:latin typeface="Segoe UI"/>
              </a:rPr>
              <a:t>W₁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2029968"/>
            <a:ext cx="566928" cy="3108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0" i="0">
                <a:solidFill>
                  <a:srgbClr val="2B2F36"/>
                </a:solidFill>
                <a:latin typeface="Segoe UI"/>
              </a:rPr>
              <a:t>SiLU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68896" y="2706624"/>
            <a:ext cx="566928" cy="310896"/>
          </a:xfrm>
          <a:prstGeom prst="roundRect">
            <a:avLst>
              <a:gd name="adj" fmla="val 14000"/>
            </a:avLst>
          </a:prstGeom>
          <a:solidFill>
            <a:srgbClr val="EAF3EC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2B2F36"/>
                </a:solidFill>
                <a:latin typeface="Segoe UI"/>
              </a:rPr>
              <a:t>W₃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12864" y="2185416"/>
            <a:ext cx="256032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912864" y="2862072"/>
            <a:ext cx="256032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35823" y="2185416"/>
            <a:ext cx="219456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778240" y="2331720"/>
            <a:ext cx="329184" cy="329184"/>
          </a:xfrm>
          <a:prstGeom prst="ellipse">
            <a:avLst/>
          </a:prstGeom>
          <a:solidFill>
            <a:srgbClr val="FFF4D6"/>
          </a:solidFill>
          <a:ln w="15875">
            <a:solidFill>
              <a:srgbClr val="C9A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400" b="1" i="0">
                <a:solidFill>
                  <a:srgbClr val="8A6D18"/>
                </a:solidFill>
                <a:latin typeface="Segoe UI"/>
              </a:rPr>
              <a:t>×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522208" y="2185416"/>
            <a:ext cx="329184" cy="210312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735823" y="2596896"/>
            <a:ext cx="1115569" cy="265176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9056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750" b="0" i="1">
                <a:solidFill>
                  <a:srgbClr val="6B7280"/>
                </a:solidFill>
                <a:latin typeface="Segoe UI"/>
              </a:rPr>
              <a:t>element-wise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72016" y="2331720"/>
            <a:ext cx="512064" cy="329184"/>
          </a:xfrm>
          <a:prstGeom prst="roundRect">
            <a:avLst>
              <a:gd name="adj" fmla="val 14000"/>
            </a:avLst>
          </a:prstGeom>
          <a:solidFill>
            <a:srgbClr val="EAF3EC"/>
          </a:solidFill>
          <a:ln w="13970">
            <a:solidFill>
              <a:srgbClr val="1F2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2B2F36"/>
                </a:solidFill>
                <a:latin typeface="Segoe UI"/>
              </a:rPr>
              <a:t>W₂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07424" y="2496312"/>
            <a:ext cx="164592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784080" y="2496312"/>
            <a:ext cx="329184" cy="45720"/>
          </a:xfrm>
          <a:prstGeom prst="line">
            <a:avLst/>
          </a:prstGeom>
          <a:ln w="1778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509760" y="186537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C0392B"/>
                </a:solidFill>
                <a:latin typeface="Segoe UI"/>
              </a:rPr>
              <a:t>× α₂</a:t>
            </a:r>
          </a:p>
        </p:txBody>
      </p:sp>
      <p:sp>
        <p:nvSpPr>
          <p:cNvPr id="51" name="Oval 50"/>
          <p:cNvSpPr/>
          <p:nvPr/>
        </p:nvSpPr>
        <p:spPr>
          <a:xfrm>
            <a:off x="10113264" y="237744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500" b="1" i="0">
                <a:solidFill>
                  <a:srgbClr val="2B2F36"/>
                </a:solidFill>
                <a:latin typeface="Segoe UI"/>
              </a:rPr>
              <a:t>+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442448" y="2542032"/>
            <a:ext cx="1033272" cy="0"/>
          </a:xfrm>
          <a:prstGeom prst="line">
            <a:avLst/>
          </a:prstGeom>
          <a:ln w="2032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61320" y="2194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000" b="0" i="1">
                <a:solidFill>
                  <a:srgbClr val="6B7280"/>
                </a:solidFill>
                <a:latin typeface="Segoe UI"/>
              </a:rPr>
              <a:t>output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86384" y="2816351"/>
            <a:ext cx="0" cy="795529"/>
          </a:xfrm>
          <a:prstGeom prst="line">
            <a:avLst/>
          </a:prstGeom>
          <a:ln w="15240">
            <a:solidFill>
              <a:srgbClr val="C4C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86384" y="3611880"/>
            <a:ext cx="4553712" cy="0"/>
          </a:xfrm>
          <a:prstGeom prst="line">
            <a:avLst/>
          </a:prstGeom>
          <a:ln w="15240">
            <a:solidFill>
              <a:srgbClr val="C4C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0096" y="2706624"/>
            <a:ext cx="0" cy="905256"/>
          </a:xfrm>
          <a:prstGeom prst="line">
            <a:avLst/>
          </a:prstGeom>
          <a:ln w="15240">
            <a:solidFill>
              <a:srgbClr val="C4CA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50408" y="2816351"/>
            <a:ext cx="0" cy="950977"/>
          </a:xfrm>
          <a:prstGeom prst="line">
            <a:avLst/>
          </a:prstGeom>
          <a:ln w="15240">
            <a:solidFill>
              <a:srgbClr val="C4C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50408" y="3767328"/>
            <a:ext cx="4727448" cy="0"/>
          </a:xfrm>
          <a:prstGeom prst="line">
            <a:avLst/>
          </a:prstGeom>
          <a:ln w="15240">
            <a:solidFill>
              <a:srgbClr val="C4C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277856" y="2706624"/>
            <a:ext cx="0" cy="1060704"/>
          </a:xfrm>
          <a:prstGeom prst="line">
            <a:avLst/>
          </a:prstGeom>
          <a:ln w="15240">
            <a:solidFill>
              <a:srgbClr val="C4CA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2960" y="34564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800" b="0" i="1">
                <a:solidFill>
                  <a:srgbClr val="6B7280"/>
                </a:solidFill>
                <a:latin typeface="Segoe UI"/>
              </a:rPr>
              <a:t>residual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041648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950" b="0" i="1">
                <a:solidFill>
                  <a:srgbClr val="6B7280"/>
                </a:solidFill>
                <a:latin typeface="Segoe UI"/>
              </a:rPr>
              <a:t>Block:  x ← x + α·sublayer( (1+β)·RMSNorm(x) + γ )    •    SwiGLU FFN:  W₂( SiLU(W₁x) ⊙ W₃x )    •    Attn:  Wq,Wk,Wv → QK-RMSNorm → SDPA → Wₒ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51760" y="42611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1F2940"/>
                </a:solidFill>
                <a:latin typeface="Segoe UI"/>
              </a:rPr>
              <a:t>Input: tokens at step 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51760" y="4645152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22422" y="4645152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193084" y="4645152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63746" y="4645152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34408" y="4645152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51760" y="4915814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22422" y="4915814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93084" y="4915814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63746" y="4915814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34408" y="4915814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51760" y="5186476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922422" y="5186476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93084" y="5186476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463746" y="5186476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34408" y="5186476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51760" y="5457138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22422" y="5457138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93084" y="5457138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63746" y="5457138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34408" y="5457138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51760" y="5727800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922422" y="5727800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93084" y="5727800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463746" y="5727800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34408" y="5727800"/>
            <a:ext cx="270662" cy="270662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5-Point Star 87"/>
          <p:cNvSpPr/>
          <p:nvPr/>
        </p:nvSpPr>
        <p:spPr>
          <a:xfrm>
            <a:off x="3247217" y="4699285"/>
            <a:ext cx="162397" cy="162397"/>
          </a:xfrm>
          <a:prstGeom prst="star5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5-Point Star 88"/>
          <p:cNvSpPr/>
          <p:nvPr/>
        </p:nvSpPr>
        <p:spPr>
          <a:xfrm>
            <a:off x="3247217" y="5240609"/>
            <a:ext cx="162397" cy="162397"/>
          </a:xfrm>
          <a:prstGeom prst="star5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5-Point Star 89"/>
          <p:cNvSpPr/>
          <p:nvPr/>
        </p:nvSpPr>
        <p:spPr>
          <a:xfrm>
            <a:off x="3517879" y="5781933"/>
            <a:ext cx="162397" cy="162397"/>
          </a:xfrm>
          <a:prstGeom prst="star5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ultiply 90"/>
          <p:cNvSpPr/>
          <p:nvPr/>
        </p:nvSpPr>
        <p:spPr>
          <a:xfrm>
            <a:off x="3517879" y="4969947"/>
            <a:ext cx="162397" cy="162397"/>
          </a:xfrm>
          <a:prstGeom prst="mathMultiply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Multiply 91"/>
          <p:cNvSpPr/>
          <p:nvPr/>
        </p:nvSpPr>
        <p:spPr>
          <a:xfrm>
            <a:off x="2976555" y="5511271"/>
            <a:ext cx="162397" cy="162397"/>
          </a:xfrm>
          <a:prstGeom prst="mathMultiply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Multiply 92"/>
          <p:cNvSpPr/>
          <p:nvPr/>
        </p:nvSpPr>
        <p:spPr>
          <a:xfrm>
            <a:off x="3788541" y="5511271"/>
            <a:ext cx="162397" cy="162397"/>
          </a:xfrm>
          <a:prstGeom prst="mathMultiply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4078224" y="5321808"/>
            <a:ext cx="365760" cy="0"/>
          </a:xfrm>
          <a:prstGeom prst="line">
            <a:avLst/>
          </a:prstGeom>
          <a:ln w="2540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4507992" y="4645152"/>
            <a:ext cx="777240" cy="1353312"/>
          </a:xfrm>
          <a:prstGeom prst="roundRect">
            <a:avLst>
              <a:gd name="adj" fmla="val 14000"/>
            </a:avLst>
          </a:prstGeom>
          <a:solidFill>
            <a:srgbClr val="E8EFF7"/>
          </a:solidFill>
          <a:ln w="13970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 vert="vert27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1F2940"/>
                </a:solidFill>
                <a:latin typeface="Segoe UI"/>
              </a:rPr>
              <a:t>Transformer Block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58384" y="5321808"/>
            <a:ext cx="1005840" cy="0"/>
          </a:xfrm>
          <a:prstGeom prst="line">
            <a:avLst/>
          </a:prstGeom>
          <a:ln w="25400">
            <a:solidFill>
              <a:srgbClr val="6B728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330951" y="43525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6B7280"/>
                </a:solidFill>
                <a:latin typeface="Segoe UI"/>
              </a:rPr>
              <a:t>× L layers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73951" y="4645152"/>
            <a:ext cx="777240" cy="1353312"/>
          </a:xfrm>
          <a:prstGeom prst="roundRect">
            <a:avLst>
              <a:gd name="adj" fmla="val 14000"/>
            </a:avLst>
          </a:prstGeom>
          <a:solidFill>
            <a:srgbClr val="E8EFF7"/>
          </a:solidFill>
          <a:ln w="13970">
            <a:solidFill>
              <a:srgbClr val="2E5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 vert="vert270"/>
          <a:lstStyle/>
          <a:p>
            <a:pPr algn="ctr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1F2940"/>
                </a:solidFill>
                <a:latin typeface="Segoe UI"/>
              </a:rPr>
              <a:t>Transformer Block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324343" y="5321808"/>
            <a:ext cx="365760" cy="0"/>
          </a:xfrm>
          <a:prstGeom prst="line">
            <a:avLst/>
          </a:prstGeom>
          <a:ln w="25400">
            <a:solidFill>
              <a:srgbClr val="2B2F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54111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100" b="1" i="0">
                <a:solidFill>
                  <a:srgbClr val="1F2940"/>
                </a:solidFill>
                <a:latin typeface="Segoe UI"/>
              </a:rPr>
              <a:t>Output: updated tokens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54111" y="4645152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24773" y="4645152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295435" y="4645152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566097" y="4645152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836759" y="4645152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754111" y="4915814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024773" y="4915814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295435" y="4915814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66097" y="4915814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836759" y="4915814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754111" y="5186476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024773" y="5186476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295435" y="5186476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66097" y="5186476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836759" y="5186476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754111" y="5457138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24773" y="5457138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295435" y="5457138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66097" y="5457138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836759" y="5457138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754111" y="5727800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24773" y="5727800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95435" y="5727800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566097" y="5727800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836759" y="5727800"/>
            <a:ext cx="270662" cy="270662"/>
          </a:xfrm>
          <a:prstGeom prst="rect">
            <a:avLst/>
          </a:prstGeom>
          <a:solidFill>
            <a:srgbClr val="F7FAFC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5-Point Star 125"/>
          <p:cNvSpPr/>
          <p:nvPr/>
        </p:nvSpPr>
        <p:spPr>
          <a:xfrm>
            <a:off x="8349568" y="4699285"/>
            <a:ext cx="162397" cy="162397"/>
          </a:xfrm>
          <a:prstGeom prst="star5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5-Point Star 126"/>
          <p:cNvSpPr/>
          <p:nvPr/>
        </p:nvSpPr>
        <p:spPr>
          <a:xfrm>
            <a:off x="8349568" y="5240609"/>
            <a:ext cx="162397" cy="162397"/>
          </a:xfrm>
          <a:prstGeom prst="star5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5-Point Star 127"/>
          <p:cNvSpPr/>
          <p:nvPr/>
        </p:nvSpPr>
        <p:spPr>
          <a:xfrm>
            <a:off x="8620230" y="5781933"/>
            <a:ext cx="162397" cy="162397"/>
          </a:xfrm>
          <a:prstGeom prst="star5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Multiply 128"/>
          <p:cNvSpPr/>
          <p:nvPr/>
        </p:nvSpPr>
        <p:spPr>
          <a:xfrm>
            <a:off x="8620230" y="4969947"/>
            <a:ext cx="162397" cy="162397"/>
          </a:xfrm>
          <a:prstGeom prst="mathMultiply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Multiply 129"/>
          <p:cNvSpPr/>
          <p:nvPr/>
        </p:nvSpPr>
        <p:spPr>
          <a:xfrm>
            <a:off x="8078906" y="5511271"/>
            <a:ext cx="162397" cy="162397"/>
          </a:xfrm>
          <a:prstGeom prst="mathMultiply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Multiply 130"/>
          <p:cNvSpPr/>
          <p:nvPr/>
        </p:nvSpPr>
        <p:spPr>
          <a:xfrm>
            <a:off x="8890892" y="5511271"/>
            <a:ext cx="162397" cy="162397"/>
          </a:xfrm>
          <a:prstGeom prst="mathMultiply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 flipV="1">
            <a:off x="4480560" y="4645152"/>
            <a:ext cx="27432" cy="3637149370848"/>
          </a:xfrm>
          <a:prstGeom prst="line">
            <a:avLst/>
          </a:prstGeom>
          <a:ln w="1524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 flipV="1">
            <a:off x="5285232" y="4645152"/>
            <a:ext cx="292608" cy="3637149370848"/>
          </a:xfrm>
          <a:prstGeom prst="line">
            <a:avLst/>
          </a:prstGeom>
          <a:ln w="15240">
            <a:solidFill>
              <a:srgbClr val="6B72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457200" y="6327648"/>
            <a:ext cx="11274552" cy="402336"/>
          </a:xfrm>
          <a:prstGeom prst="roundRect">
            <a:avLst>
              <a:gd name="adj" fmla="val 14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</a:p>
        </p:txBody>
      </p:sp>
      <p:sp>
        <p:nvSpPr>
          <p:cNvPr id="135" name="Multiply 134"/>
          <p:cNvSpPr/>
          <p:nvPr/>
        </p:nvSpPr>
        <p:spPr>
          <a:xfrm>
            <a:off x="676656" y="6428232"/>
            <a:ext cx="201168" cy="201168"/>
          </a:xfrm>
          <a:prstGeom prst="mathMultiply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60120" y="63916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100" b="0" i="0">
                <a:solidFill>
                  <a:srgbClr val="2B2F36"/>
                </a:solidFill>
                <a:latin typeface="Segoe UI"/>
              </a:rPr>
              <a:t>Uₜ — newly unmasked at step t  (recomputed)</a:t>
            </a:r>
          </a:p>
        </p:txBody>
      </p:sp>
      <p:sp>
        <p:nvSpPr>
          <p:cNvPr id="137" name="5-Point Star 136"/>
          <p:cNvSpPr/>
          <p:nvPr/>
        </p:nvSpPr>
        <p:spPr>
          <a:xfrm>
            <a:off x="4608576" y="6428232"/>
            <a:ext cx="201168" cy="201168"/>
          </a:xfrm>
          <a:prstGeom prst="star5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892040" y="63916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100" b="0" i="0">
                <a:solidFill>
                  <a:srgbClr val="2B2F36"/>
                </a:solidFill>
                <a:latin typeface="Segoe UI"/>
              </a:rPr>
              <a:t>Uₜ₋₁ — unmasked at step t−1  (still in active set)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869680" y="642823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44000" y="63916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</a:rPr>
              <a:t>inactive — not recomputed, reuse cached delta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