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8000" cy="34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222C44"/>
                </a:solidFill>
                <a:latin typeface="Segoe UI"/>
              </a:rPr>
              <a:t>Partial-update decoding: recompute only active tokens, reuse cached deltas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6400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 i="0">
                <a:solidFill>
                  <a:srgbClr val="2B2F36"/>
                </a:solidFill>
                <a:latin typeface="Segoe UI"/>
              </a:rPr>
              <a:t>tokens at step 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" y="84124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84124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" y="841248"/>
            <a:ext cx="182880" cy="182880"/>
          </a:xfrm>
          <a:prstGeom prst="rect">
            <a:avLst/>
          </a:prstGeom>
          <a:solidFill>
            <a:srgbClr val="6FB18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84124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" y="84124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" y="102412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102412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6" y="102412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" y="1024128"/>
            <a:ext cx="182880" cy="182880"/>
          </a:xfrm>
          <a:prstGeom prst="rect">
            <a:avLst/>
          </a:prstGeom>
          <a:solidFill>
            <a:srgbClr val="D66E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" y="102412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8016" y="120700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" y="1207008"/>
            <a:ext cx="182880" cy="182880"/>
          </a:xfrm>
          <a:prstGeom prst="rect">
            <a:avLst/>
          </a:prstGeom>
          <a:solidFill>
            <a:srgbClr val="6FB18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" y="120700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" y="120700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" y="1207008"/>
            <a:ext cx="182880" cy="182880"/>
          </a:xfrm>
          <a:prstGeom prst="rect">
            <a:avLst/>
          </a:prstGeom>
          <a:solidFill>
            <a:srgbClr val="D66E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016" y="138988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" y="1389888"/>
            <a:ext cx="182880" cy="182880"/>
          </a:xfrm>
          <a:prstGeom prst="rect">
            <a:avLst/>
          </a:prstGeom>
          <a:solidFill>
            <a:srgbClr val="D66E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" y="138988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" y="138988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36" y="138988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8016" y="157276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896" y="157276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" y="157276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" y="1572768"/>
            <a:ext cx="182880" cy="182880"/>
          </a:xfrm>
          <a:prstGeom prst="rect">
            <a:avLst/>
          </a:prstGeom>
          <a:solidFill>
            <a:srgbClr val="6FB18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" y="157276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088136" y="1298448"/>
            <a:ext cx="301752" cy="0"/>
          </a:xfrm>
          <a:prstGeom prst="line">
            <a:avLst/>
          </a:prstGeom>
          <a:ln w="2032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417320" y="877824"/>
            <a:ext cx="1280160" cy="841248"/>
          </a:xfrm>
          <a:prstGeom prst="roundRect">
            <a:avLst>
              <a:gd name="adj" fmla="val 12000"/>
            </a:avLst>
          </a:prstGeom>
          <a:solidFill>
            <a:srgbClr val="DDE7F4"/>
          </a:solidFill>
          <a:ln w="12700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12700" rIns="1270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222C44"/>
                </a:solidFill>
                <a:latin typeface="Segoe UI"/>
              </a:rPr>
              <a:t>Transformer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222C44"/>
                </a:solidFill>
                <a:latin typeface="Segoe UI"/>
              </a:rPr>
              <a:t>Block × L</a:t>
            </a:r>
          </a:p>
        </p:txBody>
      </p:sp>
      <p:sp>
        <p:nvSpPr>
          <p:cNvPr id="31" name="Can 30"/>
          <p:cNvSpPr/>
          <p:nvPr/>
        </p:nvSpPr>
        <p:spPr>
          <a:xfrm>
            <a:off x="1627632" y="365760"/>
            <a:ext cx="859536" cy="310896"/>
          </a:xfrm>
          <a:prstGeom prst="can">
            <a:avLst/>
          </a:prstGeom>
          <a:solidFill>
            <a:srgbClr val="FBF1DB"/>
          </a:solidFill>
          <a:ln w="12700">
            <a:solidFill>
              <a:srgbClr val="C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12700" rIns="1270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1" i="0">
                <a:solidFill>
                  <a:srgbClr val="8A6D18"/>
                </a:solidFill>
                <a:latin typeface="Segoe UI"/>
              </a:rPr>
              <a:t>cache  δ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74519" y="676656"/>
            <a:ext cx="0" cy="201168"/>
          </a:xfrm>
          <a:prstGeom prst="line">
            <a:avLst/>
          </a:prstGeom>
          <a:ln w="16510">
            <a:solidFill>
              <a:srgbClr val="2E7D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88720" y="69494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750" b="0" i="0">
                <a:solidFill>
                  <a:srgbClr val="2E7D46"/>
                </a:solidFill>
                <a:latin typeface="Segoe UI"/>
              </a:rPr>
              <a:t>reuse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240280" y="676656"/>
            <a:ext cx="0" cy="201168"/>
          </a:xfrm>
          <a:prstGeom prst="line">
            <a:avLst/>
          </a:prstGeom>
          <a:ln w="1397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286000" y="69494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750" b="0" i="0">
                <a:solidFill>
                  <a:srgbClr val="6B7280"/>
                </a:solidFill>
                <a:latin typeface="Segoe UI"/>
              </a:rPr>
              <a:t>refresh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97480" y="1298448"/>
            <a:ext cx="338328" cy="0"/>
          </a:xfrm>
          <a:prstGeom prst="line">
            <a:avLst/>
          </a:prstGeom>
          <a:ln w="2032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054096" y="6400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 i="0">
                <a:solidFill>
                  <a:srgbClr val="2B2F36"/>
                </a:solidFill>
                <a:latin typeface="Segoe UI"/>
              </a:rPr>
              <a:t>after the 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72384" y="84124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55264" y="84124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38144" y="841248"/>
            <a:ext cx="182880" cy="182880"/>
          </a:xfrm>
          <a:prstGeom prst="rect">
            <a:avLst/>
          </a:prstGeom>
          <a:solidFill>
            <a:srgbClr val="6FB18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21024" y="84124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03904" y="84124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72384" y="102412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55264" y="102412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38144" y="102412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21024" y="1024128"/>
            <a:ext cx="182880" cy="182880"/>
          </a:xfrm>
          <a:prstGeom prst="rect">
            <a:avLst/>
          </a:prstGeom>
          <a:solidFill>
            <a:srgbClr val="B94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3904" y="102412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072384" y="120700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55264" y="1207008"/>
            <a:ext cx="182880" cy="182880"/>
          </a:xfrm>
          <a:prstGeom prst="rect">
            <a:avLst/>
          </a:prstGeom>
          <a:solidFill>
            <a:srgbClr val="6FB18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38144" y="120700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21024" y="120700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03904" y="1207008"/>
            <a:ext cx="182880" cy="182880"/>
          </a:xfrm>
          <a:prstGeom prst="rect">
            <a:avLst/>
          </a:prstGeom>
          <a:solidFill>
            <a:srgbClr val="B94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72384" y="138988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55264" y="1389888"/>
            <a:ext cx="182880" cy="182880"/>
          </a:xfrm>
          <a:prstGeom prst="rect">
            <a:avLst/>
          </a:prstGeom>
          <a:solidFill>
            <a:srgbClr val="B94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38144" y="138988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21024" y="138988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803904" y="138988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072384" y="157276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55264" y="157276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38144" y="157276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21024" y="1572768"/>
            <a:ext cx="182880" cy="182880"/>
          </a:xfrm>
          <a:prstGeom prst="rect">
            <a:avLst/>
          </a:prstGeom>
          <a:solidFill>
            <a:srgbClr val="6FB18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803904" y="1572768"/>
            <a:ext cx="182880" cy="182880"/>
          </a:xfrm>
          <a:prstGeom prst="rect">
            <a:avLst/>
          </a:prstGeom>
          <a:solidFill>
            <a:srgbClr val="E4E7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1104" y="877824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222C44"/>
                </a:solidFill>
                <a:latin typeface="Segoe UI"/>
              </a:rPr>
              <a:t>At each step t: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2B2F36"/>
                </a:solidFill>
                <a:latin typeface="Segoe UI"/>
              </a:rPr>
              <a:t>active = Uₜ ∪ Uₜ₋₁  →  recomputed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2B2F36"/>
                </a:solidFill>
                <a:latin typeface="Segoe UI"/>
              </a:rPr>
              <a:t>inactive  →  reuse cached δ (FFN/attn)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2E7D46"/>
                </a:solidFill>
                <a:latin typeface="Segoe UI"/>
              </a:rPr>
              <a:t>every N-th step: full refresh of δ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9728" y="1993392"/>
            <a:ext cx="6181344" cy="0"/>
          </a:xfrm>
          <a:prstGeom prst="line">
            <a:avLst/>
          </a:prstGeom>
          <a:ln w="10160">
            <a:solidFill>
              <a:srgbClr val="C4C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9728" y="2066543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1" i="0">
                <a:solidFill>
                  <a:srgbClr val="222C44"/>
                </a:solidFill>
                <a:latin typeface="Segoe UI"/>
              </a:rPr>
              <a:t>Decoding steps  t = 1 … 32   (refresh interval N = 3 shown)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" y="2313432"/>
            <a:ext cx="4873752" cy="3291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46304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33756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21207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08660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6112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83563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271016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58467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645919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33372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020824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208276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395728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583180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70632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958084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145536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332988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20440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07891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895344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082796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270248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457700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645152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832604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020056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207507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394959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82412" y="2359152"/>
            <a:ext cx="160020" cy="237744"/>
          </a:xfrm>
          <a:prstGeom prst="rect">
            <a:avLst/>
          </a:prstGeom>
          <a:solidFill>
            <a:srgbClr val="DDE7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769864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57316" y="2359152"/>
            <a:ext cx="160020" cy="237744"/>
          </a:xfrm>
          <a:prstGeom prst="rect">
            <a:avLst/>
          </a:prstGeom>
          <a:solidFill>
            <a:srgbClr val="222C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6112" y="2633472"/>
            <a:ext cx="4873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50" b="0" i="1">
                <a:solidFill>
                  <a:srgbClr val="6B7280"/>
                </a:solidFill>
                <a:latin typeface="Segoe UI"/>
              </a:rPr>
              <a:t>partial-update gate (steps 5–30)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54496" y="2340864"/>
            <a:ext cx="146304" cy="146304"/>
          </a:xfrm>
          <a:prstGeom prst="rect">
            <a:avLst/>
          </a:prstGeom>
          <a:solidFill>
            <a:srgbClr val="22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37376" y="231343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750" b="0" i="0">
                <a:solidFill>
                  <a:srgbClr val="2B2F36"/>
                </a:solidFill>
                <a:latin typeface="Segoe UI"/>
              </a:rPr>
              <a:t>full step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54496" y="2523744"/>
            <a:ext cx="146304" cy="146304"/>
          </a:xfrm>
          <a:prstGeom prst="rect">
            <a:avLst/>
          </a:prstGeom>
          <a:solidFill>
            <a:srgbClr val="DDE7F4"/>
          </a:solidFill>
          <a:ln w="9525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37376" y="24963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750" b="0" i="0">
                <a:solidFill>
                  <a:srgbClr val="2B2F36"/>
                </a:solidFill>
                <a:latin typeface="Segoe UI"/>
              </a:rPr>
              <a:t>partial (cached)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46304" y="3127248"/>
            <a:ext cx="164592" cy="164592"/>
          </a:xfrm>
          <a:prstGeom prst="rect">
            <a:avLst/>
          </a:prstGeom>
          <a:solidFill>
            <a:srgbClr val="D66E60"/>
          </a:solidFill>
          <a:ln w="9525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56616" y="30998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B2F36"/>
                </a:solidFill>
                <a:latin typeface="Segoe UI"/>
              </a:rPr>
              <a:t>Uₜ  recompute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03704" y="3127248"/>
            <a:ext cx="164592" cy="164592"/>
          </a:xfrm>
          <a:prstGeom prst="rect">
            <a:avLst/>
          </a:prstGeom>
          <a:solidFill>
            <a:srgbClr val="6FB184"/>
          </a:solidFill>
          <a:ln w="9525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414016" y="30998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B2F36"/>
                </a:solidFill>
                <a:latin typeface="Segoe UI"/>
              </a:rPr>
              <a:t>Uₜ₋₁  recompute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61104" y="3127248"/>
            <a:ext cx="164592" cy="164592"/>
          </a:xfrm>
          <a:prstGeom prst="rect">
            <a:avLst/>
          </a:prstGeom>
          <a:solidFill>
            <a:srgbClr val="E4E7EB"/>
          </a:solidFill>
          <a:ln w="9525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471416" y="30998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B2F36"/>
                </a:solidFill>
                <a:latin typeface="Segoe UI"/>
              </a:rPr>
              <a:t>inactive  reuse cached 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